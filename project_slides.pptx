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73" r:id="rId9"/>
    <p:sldId id="274" r:id="rId10"/>
    <p:sldId id="261" r:id="rId11"/>
    <p:sldId id="263" r:id="rId12"/>
    <p:sldId id="264" r:id="rId13"/>
    <p:sldId id="265" r:id="rId14"/>
    <p:sldId id="266" r:id="rId15"/>
    <p:sldId id="267" r:id="rId16"/>
    <p:sldId id="262" r:id="rId17"/>
    <p:sldId id="277" r:id="rId18"/>
    <p:sldId id="276" r:id="rId19"/>
    <p:sldId id="275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455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D66A-C3DB-8F81-534F-5CA03CCB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E6A3C-A6A2-7A9A-CC92-2582F4B3B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BBAAFA-C636-F96B-C1B4-207FBBCE0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407B9-BCEE-A3E0-2C6F-3A920AD45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24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BBE2-7578-9BEB-14BD-464DB3ACA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27920-DE4C-B486-AD25-3E213424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31FEF-273E-9FF7-5447-19A6D6A87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9025C-3118-B675-5E42-3686485C22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22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0AAE-FA9A-FDB0-4A16-749EDB279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5AD14-EF20-ED17-2BB2-CBA9602CC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5125E-80DD-71CF-C480-94F05DBAB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CE490-0CB9-E9AC-F442-0B6B3B3EBA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009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403B4-A01E-CE00-AA03-31D2D34DF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6675A-F3EB-4D87-5A73-CA73A2C81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4D731-1EDA-919B-CBA6-BC50CDAF5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F06EF-CA1D-7117-3E1B-F11E9F77AF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220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2CBC-4E44-33B0-C480-E182BB6A0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F4F77-79FA-1FF1-315D-DDA01CB71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FB332-1523-E3CE-DFC1-5D3C04AB5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2F444-510A-DB86-37C8-25702CB0E1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5515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36CC-52C7-E865-03BC-1C2C9F484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7008B-5123-B4BD-1A71-39839D300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F7F8E-DCFF-118C-885E-A69143081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8BF49-A31E-9FA3-E097-3D6EE0109E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873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5A6BB-BCDD-90CB-DCE5-D095440B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5A5009-DD09-FF97-3932-A8CE4C9D2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83FC9-1E3F-5EF0-A6F2-849EB2FA8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0EEA2-1AFC-2142-8E7B-E474B0A7C7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245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59E7E-9A34-D3F4-38F1-42EE5067F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B65E7-93FB-6180-3FB0-12C84A28B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90E65-3E8F-8C1A-9C39-D2DD0B3D4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357F-7248-309D-4FC3-86C9FB9737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95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ECF95-0FFF-AF7E-D63B-A342C012B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31A08-1589-DFE0-DF70-6E0B5677F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6F86F-BACD-6D2A-D2D5-A49398FF7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6E4E8-6CE6-07EE-B311-373B9954E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6800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2D3561">
              <a:alpha val="60000"/>
            </a:srgbClr>
          </a:solidFill>
          <a:ln w="12700">
            <a:solidFill>
              <a:srgbClr val="2D356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926080"/>
            <a:ext cx="2286000" cy="2286000"/>
          </a:xfrm>
          <a:prstGeom prst="ellipse">
            <a:avLst/>
          </a:prstGeom>
          <a:solidFill>
            <a:srgbClr val="4F8EF7">
              <a:alpha val="30000"/>
            </a:srgbClr>
          </a:solidFill>
          <a:ln w="12700">
            <a:solidFill>
              <a:srgbClr val="4F8E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via Shared Memory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POSIX Threads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 ·  threads_compute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D3561"/>
          </a:solidFill>
          <a:ln w="12700">
            <a:solidFill>
              <a:srgbClr val="2D35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02336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Emad Abu Zahra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8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mmap_compute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threads_compute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parse.h (read_numbers_ul)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compute.h (ulfunc_t type)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test_correctness.c for all 4 functions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correctness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4023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402336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10912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10912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1874520"/>
            <a:ext cx="3657600" cy="0"/>
          </a:xfrm>
          <a:prstGeom prst="line">
            <a:avLst/>
          </a:prstGeom>
          <a:noFill/>
          <a:ln w="12700">
            <a:solidFill>
              <a:srgbClr val="E0E6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10912" y="1993392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mmap() – Inputs &amp; Outputs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566928"/>
          </a:xfrm>
          <a:prstGeom prst="rect">
            <a:avLst/>
          </a:prstGeom>
          <a:solidFill>
            <a:srgbClr val="0D1117"/>
          </a:solidFill>
          <a:ln w="1905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*mmap(void *addr, size_t length, int prot, int flags, int fd, off_t offset);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627632"/>
          <a:ext cx="8595360" cy="2304288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 address for the mapping (NULL = kernel decides)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bytes to 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PROT_READ | PROT_WRITE — read/write access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MAP_SHARED | MAP_ANONYMOUS — shared, no file backing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off_t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when MAP_ANONYMOUS is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096512"/>
            <a:ext cx="859536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1330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to the mapped memory region, or </a:t>
            </a:r>
            <a:r>
              <a:rPr lang="en-US" sz="1300" b="1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MAP_FAILED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error.  Release with </a:t>
            </a:r>
            <a:r>
              <a:rPr lang="en-US" sz="1300" b="1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munmap(ptr, length)</a:t>
            </a: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mmap_compute(
  const char *filepath,
  int n_proc,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4F8E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Input must be non-negative integers.
Negatives are skipped with a warning.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write partial results into a MAP_SHARED region — no pipes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n_proc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mmap partials[n_proc]  ← shared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i = 0 to n_proc-1: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start = i * chunk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end = start + chunk - 1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FORK child i: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partials[i] = partial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EXIT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WAIT for all children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f(partials[0..n-1])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munmap → return result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Description &amp; Pseudo-code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74904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33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 threads_compute(
  const char *filepath,
  int n_threads,
  ulfunc_t f 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</a:t>
            </a: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All threads share nums[] (read-only).
Each thread writes only to its own partials[i] — no mutex needed.
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forking, no pipes, no mmap. Threads communicate via regular array slots.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4663440" cy="38862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06240" y="960120"/>
            <a:ext cx="4663440" cy="1097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0332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Read nums[] from file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Clamp n_threads ≤ count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Allocate partials[n_threads]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FOR i = 0 to n_threads-1: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args[i] = { nums, start, end,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f, &amp;partials[i] }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if last: end += remainder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FFA5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pthread_create(worker, args[i])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pthread_join all threads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result = f(partials[0..n-1])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free all → return result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thread_worker(arg):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partial = f(nums[start..end])</a:t>
            </a:r>
            <a:endParaRPr lang="en-US" sz="108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80" dirty="0">
                <a:solidFill>
                  <a:srgbClr val="3DDC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*result = partial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BB4AA-4D64-732D-6200-A97F76DCD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160702-4C9C-7547-67E6-5A06366BF4EA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9A41B1-2F5D-A8FE-001F-E8C96769C8C9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96565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B3854-6ADE-1361-C926-BC58365BF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78A43A-06D6-0B79-0B1C-69F93077561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303AF-3C5C-D3B3-2594-B705F57EB49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 Compute - Description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68B348-F7F1-BA22-450B-F651397AFFD9}"/>
              </a:ext>
            </a:extLst>
          </p:cNvPr>
          <p:cNvSpPr/>
          <p:nvPr/>
        </p:nvSpPr>
        <p:spPr>
          <a:xfrm>
            <a:off x="457200" y="1325880"/>
            <a:ext cx="8015068" cy="3017521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3B31F22-1334-30EB-0ED4-0FC625DB0246}"/>
              </a:ext>
            </a:extLst>
          </p:cNvPr>
          <p:cNvSpPr/>
          <p:nvPr/>
        </p:nvSpPr>
        <p:spPr>
          <a:xfrm>
            <a:off x="594360" y="14560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A7DDB5-7839-A085-F6AE-B26DCE933E60}"/>
              </a:ext>
            </a:extLst>
          </p:cNvPr>
          <p:cNvSpPr/>
          <p:nvPr/>
        </p:nvSpPr>
        <p:spPr>
          <a:xfrm>
            <a:off x="1041009" y="2440745"/>
            <a:ext cx="7336302" cy="1515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chemeClr val="bg1"/>
                </a:solidFill>
              </a:rPr>
              <a:t>Takes: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path of a file containing N numbers separated by new lines (or commas)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Number of processes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pointer to a function f that takes 2 numbers and returns a number.</a:t>
            </a:r>
          </a:p>
          <a:p>
            <a:pPr fontAlgn="base"/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then does the same as </a:t>
            </a:r>
            <a:r>
              <a:rPr lang="en-US" dirty="0" err="1">
                <a:solidFill>
                  <a:schemeClr val="bg1"/>
                </a:solidFill>
              </a:rPr>
              <a:t>sequential_compute</a:t>
            </a:r>
            <a:r>
              <a:rPr lang="en-US" dirty="0">
                <a:solidFill>
                  <a:schemeClr val="bg1"/>
                </a:solidFill>
              </a:rPr>
              <a:t> except that it splits the computation over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 processes as evenly as possible.</a:t>
            </a:r>
            <a:endParaRPr lang="en-US" sz="1400" dirty="0">
              <a:solidFill>
                <a:schemeClr val="bg1"/>
              </a:solidFill>
            </a:endParaRPr>
          </a:p>
          <a:p>
            <a:br>
              <a:rPr lang="en-US" sz="1400" dirty="0">
                <a:solidFill>
                  <a:schemeClr val="bg1"/>
                </a:solidFill>
              </a:rPr>
            </a:b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002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50976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file: [ 1, 2, 3, 4, 5 ]     f = add     Expected result = 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09728" cy="7955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26680" y="149047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26464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left: ((((1+2)+3)+4)+5) = 15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sequential_compute("file.txt", add)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58568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258568"/>
            <a:ext cx="109728" cy="795528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solidFill>
            <a:srgbClr val="FFA552"/>
          </a:solidFill>
          <a:ln w="12700">
            <a:solidFill>
              <a:srgbClr val="FFA5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26680" y="23774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231343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proc0=[1,2]→3   proc1=[3,4,5]→12   f(3,12)=15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273405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parallel_compute("file.txt", 2, add)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145536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145536"/>
            <a:ext cx="109728" cy="7955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1912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mmap_compute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26680" y="3264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20040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 via shared memory, result=15UL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6210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mmap_compute("file.txt", 2, ul_add)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4032504"/>
            <a:ext cx="8595360" cy="795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6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4032504"/>
            <a:ext cx="109728" cy="795528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40782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726680" y="415137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15UL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408736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t0=[1,2]→3   t1=[3,4,5]→12   f(3,12)=15UL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45079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threads_compute("file.txt", 2, ul_add)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C0481-FAC7-2FE0-182C-37B9742B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9BCA08-C9FB-DA38-DB43-52038321FD0C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BB64AB-B9AB-C9DB-2593-95FA42D80E68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83BD8FD-5D39-7656-C6BB-E8A5DA2E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24" y="1061443"/>
            <a:ext cx="8213952" cy="15103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3F6976-894E-4B5F-0E4A-DDB96584B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37" y="2710954"/>
            <a:ext cx="8220739" cy="219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1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6EBB4-2348-70A6-E225-BDC7A225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4B7650-F54F-5EAB-C603-FD2372399C91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A8DCCA-0ECF-31EC-07DF-7C6BE4ADA639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7D2D0-C86E-7711-04B8-DBFD99184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6" y="1279788"/>
            <a:ext cx="8822687" cy="328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55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A29087-01D3-AE45-0C27-2910136A6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1C5707-A804-2EE0-3B14-94478B3A7CEA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543EF9-D17D-D1CF-1BED-1F8CFC18376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210B4-1A0F-4D6B-1D66-92823BA1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35" y="1484249"/>
            <a:ext cx="8203930" cy="296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1197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B2E30E-CF10-BF64-F486-5E4FC12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0CF36-7983-4A61-2798-1467B44C9164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A256BB-83C2-41B6-5EFC-2E32E9A8E4F6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EB81C-ADE7-A656-18B0-03C48F938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97" y="1166024"/>
            <a:ext cx="8314006" cy="377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97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83C2CB-F6F4-93C0-E03C-2DED84D8A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92179F-67A4-F047-0A3D-3D3773BB865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7FFB4-417B-2FA1-158D-EC957FF84D91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Examples – All 4 Functions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F98BB8-CB2E-E059-15A2-14ECF139E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64" y="1903787"/>
            <a:ext cx="8285871" cy="149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07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nums=[1,2,3,4,5,6,7]  n_threads=3  f=add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solidFill>
            <a:srgbClr val="1A1F36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0" y="12618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Thread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773936"/>
            <a:ext cx="0" cy="27432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solidFill>
            <a:srgbClr val="E8F0FE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80360" y="204825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 → nums[]   |   Allocate partials[3]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2468880"/>
            <a:ext cx="0" cy="237744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pthread_create ×3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00200" y="2953512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00200" y="2953512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0" y="2953512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0" y="2953512"/>
            <a:ext cx="0" cy="201168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2953512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43800" y="2953512"/>
            <a:ext cx="0" cy="201168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4F8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3154680"/>
            <a:ext cx="2468880" cy="10058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nums[0..1]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partials[0] = 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37560" y="3154680"/>
            <a:ext cx="2468880" cy="10058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90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nums[2..3]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partials[1] = 7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3154680"/>
            <a:ext cx="246888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3DDC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09360" y="3154680"/>
            <a:ext cx="2468880" cy="100584"/>
          </a:xfrm>
          <a:prstGeom prst="rect">
            <a:avLst/>
          </a:prstGeom>
          <a:solidFill>
            <a:srgbClr val="3DDC84"/>
          </a:solidFill>
          <a:ln w="1270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34930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slice: nums[4..6]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f(slice)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partials[2] = 18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600200" y="4178808"/>
            <a:ext cx="0" cy="228600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600200" y="4407408"/>
            <a:ext cx="2971800" cy="0"/>
          </a:xfrm>
          <a:prstGeom prst="line">
            <a:avLst/>
          </a:prstGeom>
          <a:noFill/>
          <a:ln w="19050">
            <a:solidFill>
              <a:srgbClr val="4F8EF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0" y="4178808"/>
            <a:ext cx="0" cy="22860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0" y="4407408"/>
            <a:ext cx="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543800" y="4178808"/>
            <a:ext cx="0" cy="228600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0" y="4407408"/>
            <a:ext cx="2971800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0" y="4206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A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pthread_join (wait for all threads)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0" y="4407408"/>
            <a:ext cx="0" cy="201168"/>
          </a:xfrm>
          <a:prstGeom prst="line">
            <a:avLst/>
          </a:prstGeom>
          <a:noFill/>
          <a:ln w="1905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2860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= f(3, 7, 18) = 28   →   return 28UL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4991D-12A3-6519-998A-0323A6C84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23D544-32E0-DF55-A199-AFDAEE3C3930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C1ABA7-6F14-0EC9-E297-A52D692700AD}"/>
              </a:ext>
            </a:extLst>
          </p:cNvPr>
          <p:cNvSpPr/>
          <p:nvPr/>
        </p:nvSpPr>
        <p:spPr>
          <a:xfrm>
            <a:off x="365760" y="1097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threads_compute – Data Flow Diagram</a:t>
            </a:r>
            <a:endParaRPr lang="en-US" sz="24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9EB315F-DBFF-DA85-CD9B-75F67013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739" y="1178168"/>
            <a:ext cx="6346522" cy="354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03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6FC6C-D093-832E-0B3B-B500D302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4C6021D-8419-C0B9-C931-A025F26BA5DC}"/>
              </a:ext>
            </a:extLst>
          </p:cNvPr>
          <p:cNvSpPr/>
          <p:nvPr/>
        </p:nvSpPr>
        <p:spPr>
          <a:xfrm>
            <a:off x="0" y="2137410"/>
            <a:ext cx="9144000" cy="868680"/>
          </a:xfrm>
          <a:prstGeom prst="rect">
            <a:avLst/>
          </a:prstGeom>
          <a:solidFill>
            <a:srgbClr val="1A1F36"/>
          </a:solidFill>
          <a:ln w="12700">
            <a:solidFill>
              <a:srgbClr val="1A1F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7D57CF1-F629-C6FB-D2AA-59CB795B6E81}"/>
              </a:ext>
            </a:extLst>
          </p:cNvPr>
          <p:cNvSpPr/>
          <p:nvPr/>
        </p:nvSpPr>
        <p:spPr>
          <a:xfrm>
            <a:off x="365760" y="224713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pervious project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89813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1355</Words>
  <Application>Microsoft Office PowerPoint</Application>
  <PresentationFormat>On-screen Show (16:9)</PresentationFormat>
  <Paragraphs>173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Lab Project – mmap &amp; Threads Compute</dc:title>
  <dc:subject>PptxGenJS Presentation</dc:subject>
  <dc:creator>PptxGenJS</dc:creator>
  <cp:lastModifiedBy>samaemad</cp:lastModifiedBy>
  <cp:revision>3</cp:revision>
  <dcterms:created xsi:type="dcterms:W3CDTF">2026-04-06T07:59:32Z</dcterms:created>
  <dcterms:modified xsi:type="dcterms:W3CDTF">2026-04-05T23:12:58Z</dcterms:modified>
</cp:coreProperties>
</file>